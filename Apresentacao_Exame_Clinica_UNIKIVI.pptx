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70" r:id="rId13"/>
    <p:sldId id="269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4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1589314"/>
            <a:ext cx="70648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/>
            </a:pPr>
            <a:r>
              <a:rPr lang="pt-P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UNIVERSIDADE KIMPA VITA</a:t>
            </a:r>
            <a:br>
              <a:rPr lang="pt-PT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INSTITUTO POLITÉCNICO DO UÍGE</a:t>
            </a:r>
            <a:endParaRPr lang="pt-PT" dirty="0"/>
          </a:p>
        </p:txBody>
      </p:sp>
      <p:pic>
        <p:nvPicPr>
          <p:cNvPr id="3" name="Imagem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72" y="185531"/>
            <a:ext cx="1278225" cy="12871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936172" y="3336003"/>
            <a:ext cx="7271657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CRIAÇÃO DE UM SISTEMA DE CLINICA UNIKIV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088573" y="4302934"/>
            <a:ext cx="72716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Por:</a:t>
            </a: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AO" dirty="0">
                <a:latin typeface="Arial" panose="020B0604020202020204" pitchFamily="34" charset="0"/>
                <a:cs typeface="Arial" panose="020B0604020202020204" pitchFamily="34" charset="0"/>
              </a:rPr>
              <a:t>Augusto </a:t>
            </a:r>
            <a:r>
              <a:rPr lang="pt-AO" dirty="0" smtClean="0">
                <a:latin typeface="Arial" panose="020B0604020202020204" pitchFamily="34" charset="0"/>
                <a:cs typeface="Arial" panose="020B0604020202020204" pitchFamily="34" charset="0"/>
              </a:rPr>
              <a:t>Mbota,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Jacinto Silva</a:t>
            </a:r>
            <a:r>
              <a:rPr lang="pt-AO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Maivova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Pedro</a:t>
            </a:r>
            <a:r>
              <a:rPr lang="pt-AO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AO" dirty="0">
                <a:latin typeface="Arial" panose="020B0604020202020204" pitchFamily="34" charset="0"/>
                <a:cs typeface="Arial" panose="020B0604020202020204" pitchFamily="34" charset="0"/>
              </a:rPr>
              <a:t>Kassako Mádia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e Fernando Daniel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95354" y="6057260"/>
            <a:ext cx="2358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AO" dirty="0"/>
              <a:t>Uíge, JUNHO DE 2026</a:t>
            </a:r>
            <a:endParaRPr lang="en-US" dirty="0"/>
          </a:p>
        </p:txBody>
      </p:sp>
      <p:sp>
        <p:nvSpPr>
          <p:cNvPr id="7" name="Retângulo 6"/>
          <p:cNvSpPr/>
          <p:nvPr/>
        </p:nvSpPr>
        <p:spPr>
          <a:xfrm>
            <a:off x="5326901" y="578026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PT" dirty="0"/>
              <a:t>Orientador: </a:t>
            </a:r>
          </a:p>
          <a:p>
            <a:pPr algn="ctr"/>
            <a:r>
              <a:rPr lang="pt-PT" dirty="0" err="1"/>
              <a:t>Moyo</a:t>
            </a:r>
            <a:r>
              <a:rPr lang="pt-PT" dirty="0"/>
              <a:t> </a:t>
            </a:r>
            <a:r>
              <a:rPr lang="pt-PT" dirty="0" err="1"/>
              <a:t>Kanivengidio</a:t>
            </a:r>
            <a:r>
              <a:rPr lang="pt-PT" dirty="0"/>
              <a:t>, </a:t>
            </a:r>
            <a:r>
              <a:rPr lang="pt-PT" dirty="0" err="1"/>
              <a:t>MSc</a:t>
            </a:r>
            <a:r>
              <a:rPr lang="pt-PT" dirty="0"/>
              <a:t>.</a:t>
            </a:r>
            <a:br>
              <a:rPr lang="pt-PT" dirty="0"/>
            </a:br>
            <a:endParaRPr lang="pt-PT" dirty="0"/>
          </a:p>
        </p:txBody>
      </p:sp>
      <p:sp>
        <p:nvSpPr>
          <p:cNvPr id="8" name="Oval 7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4191"/>
          </a:xfrm>
        </p:spPr>
        <p:txBody>
          <a:bodyPr>
            <a:normAutofit fontScale="90000"/>
          </a:bodyPr>
          <a:lstStyle/>
          <a:p>
            <a:r>
              <a:rPr lang="pt-PT" dirty="0" smtClean="0">
                <a:latin typeface="Maiandra GD" panose="020E0502030308020204" pitchFamily="34" charset="0"/>
              </a:rPr>
              <a:t>INTRODUÇÃO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486" y="1143000"/>
            <a:ext cx="8229600" cy="45259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pt-PT" sz="2000" dirty="0" smtClean="0">
                <a:latin typeface="Maiandra GD" panose="020E0502030308020204" pitchFamily="34" charset="0"/>
              </a:rPr>
              <a:t>Em mundo impulsionado pela tecnologia e busca constante por eficiência a </a:t>
            </a:r>
            <a:r>
              <a:rPr lang="pt-PT" sz="2000" dirty="0">
                <a:latin typeface="Maiandra GD" panose="020E0502030308020204" pitchFamily="34" charset="0"/>
              </a:rPr>
              <a:t>criação de um software de gestão clínica torna-se uma solução eficiente para automatizar esses processos, permitindo melhorar o atendimento, organizar os dados e facilitar o controlo das atividades da instituição.</a:t>
            </a:r>
          </a:p>
          <a:p>
            <a:pPr marL="0" indent="0">
              <a:buNone/>
              <a:defRPr sz="2000"/>
            </a:pP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114" y="274638"/>
            <a:ext cx="8316686" cy="792162"/>
          </a:xfrm>
        </p:spPr>
        <p:txBody>
          <a:bodyPr/>
          <a:lstStyle/>
          <a:p>
            <a:r>
              <a:rPr lang="pt-PT" dirty="0" smtClean="0">
                <a:latin typeface="Maiandra GD" panose="020E0502030308020204" pitchFamily="34" charset="0"/>
              </a:rPr>
              <a:t>       OBJETIVOS DO PROJETO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172" y="1145495"/>
            <a:ext cx="8229600" cy="45259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  <a:defRPr sz="2000"/>
            </a:pPr>
            <a:r>
              <a:rPr sz="2800" dirty="0" err="1">
                <a:latin typeface="Maiandra GD" panose="020E0502030308020204" pitchFamily="34" charset="0"/>
              </a:rPr>
              <a:t>Objetivo</a:t>
            </a:r>
            <a:r>
              <a:rPr sz="2800" dirty="0">
                <a:latin typeface="Maiandra GD" panose="020E0502030308020204" pitchFamily="34" charset="0"/>
              </a:rPr>
              <a:t> </a:t>
            </a:r>
            <a:r>
              <a:rPr sz="2800" dirty="0" err="1" smtClean="0">
                <a:latin typeface="Maiandra GD" panose="020E0502030308020204" pitchFamily="34" charset="0"/>
              </a:rPr>
              <a:t>geral</a:t>
            </a:r>
            <a:r>
              <a:rPr sz="2800" dirty="0" smtClean="0">
                <a:latin typeface="Maiandra GD" panose="020E0502030308020204" pitchFamily="34" charset="0"/>
              </a:rPr>
              <a:t>:</a:t>
            </a:r>
            <a:endParaRPr lang="pt-PT" sz="2800" dirty="0">
              <a:latin typeface="Maiandra GD" panose="020E0502030308020204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  <a:defRPr sz="2000"/>
            </a:pPr>
            <a:r>
              <a:rPr lang="pt-PT" dirty="0" smtClean="0">
                <a:latin typeface="Maiandra GD" panose="020E0502030308020204" pitchFamily="34" charset="0"/>
              </a:rPr>
              <a:t>Criar um Sistema de Gestão de Clínicas Médicas </a:t>
            </a:r>
            <a:endParaRPr lang="pt-PT" dirty="0">
              <a:latin typeface="Maiandra GD" panose="020E0502030308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  <a:defRPr sz="2000"/>
            </a:pPr>
            <a:r>
              <a:rPr sz="2800" dirty="0" err="1" smtClean="0">
                <a:latin typeface="Maiandra GD" panose="020E0502030308020204" pitchFamily="34" charset="0"/>
              </a:rPr>
              <a:t>Objetivos</a:t>
            </a:r>
            <a:r>
              <a:rPr sz="2800" dirty="0" smtClean="0">
                <a:latin typeface="Maiandra GD" panose="020E0502030308020204" pitchFamily="34" charset="0"/>
              </a:rPr>
              <a:t> </a:t>
            </a:r>
            <a:r>
              <a:rPr sz="2800" dirty="0" err="1">
                <a:latin typeface="Maiandra GD" panose="020E0502030308020204" pitchFamily="34" charset="0"/>
              </a:rPr>
              <a:t>específicos</a:t>
            </a:r>
            <a:r>
              <a:rPr sz="2800" dirty="0" smtClean="0">
                <a:latin typeface="Maiandra GD" panose="020E0502030308020204" pitchFamily="34" charset="0"/>
              </a:rPr>
              <a:t>:</a:t>
            </a:r>
            <a:endParaRPr lang="pt-PT" sz="2800" dirty="0" smtClean="0">
              <a:latin typeface="Maiandra GD" panose="020E0502030308020204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  <a:defRPr sz="2000"/>
            </a:pPr>
            <a:r>
              <a:rPr lang="pt-PT" sz="2000" dirty="0" smtClean="0">
                <a:latin typeface="Maiandra GD" panose="020E0502030308020204" pitchFamily="34" charset="0"/>
              </a:rPr>
              <a:t>Persistência </a:t>
            </a:r>
            <a:r>
              <a:rPr lang="pt-PT" sz="2000" dirty="0">
                <a:latin typeface="Maiandra GD" panose="020E0502030308020204" pitchFamily="34" charset="0"/>
              </a:rPr>
              <a:t>de Dados </a:t>
            </a:r>
            <a:r>
              <a:rPr lang="pt-PT" sz="2000" dirty="0" smtClean="0">
                <a:latin typeface="Maiandra GD" panose="020E0502030308020204" pitchFamily="34" charset="0"/>
              </a:rPr>
              <a:t>Relacional</a:t>
            </a:r>
          </a:p>
          <a:p>
            <a:pPr lvl="1" algn="just">
              <a:buFont typeface="Wingdings" panose="05000000000000000000" pitchFamily="2" charset="2"/>
              <a:buChar char="Ø"/>
              <a:defRPr sz="2000"/>
            </a:pPr>
            <a:r>
              <a:rPr lang="pt-PT" sz="2000" dirty="0">
                <a:latin typeface="Maiandra GD" panose="020E0502030308020204" pitchFamily="34" charset="0"/>
              </a:rPr>
              <a:t>Modularidade </a:t>
            </a:r>
            <a:r>
              <a:rPr lang="pt-PT" sz="2000" dirty="0" smtClean="0">
                <a:latin typeface="Maiandra GD" panose="020E0502030308020204" pitchFamily="34" charset="0"/>
              </a:rPr>
              <a:t>Arquitetural</a:t>
            </a:r>
          </a:p>
          <a:p>
            <a:pPr lvl="1" algn="just">
              <a:buFont typeface="Wingdings" panose="05000000000000000000" pitchFamily="2" charset="2"/>
              <a:buChar char="Ø"/>
              <a:defRPr sz="2000"/>
            </a:pPr>
            <a:r>
              <a:rPr lang="pt-PT" sz="2000" dirty="0">
                <a:latin typeface="Maiandra GD" panose="020E0502030308020204" pitchFamily="34" charset="0"/>
              </a:rPr>
              <a:t>Controlo de Acesso Baseado em Perfis (RBAC</a:t>
            </a:r>
            <a:r>
              <a:rPr lang="pt-PT" sz="2000" dirty="0" smtClean="0">
                <a:latin typeface="Maiandra GD" panose="020E0502030308020204" pitchFamily="34" charset="0"/>
              </a:rPr>
              <a:t>)</a:t>
            </a:r>
          </a:p>
          <a:p>
            <a:pPr lvl="1" algn="just">
              <a:buFont typeface="Wingdings" panose="05000000000000000000" pitchFamily="2" charset="2"/>
              <a:buChar char="Ø"/>
              <a:defRPr sz="2000"/>
            </a:pPr>
            <a:r>
              <a:rPr lang="pt-PT" sz="2000" dirty="0">
                <a:latin typeface="Maiandra GD" panose="020E0502030308020204" pitchFamily="34" charset="0"/>
              </a:rPr>
              <a:t>Geração de Relatórios </a:t>
            </a:r>
            <a:r>
              <a:rPr lang="pt-PT" sz="2000" dirty="0" smtClean="0">
                <a:latin typeface="Maiandra GD" panose="020E0502030308020204" pitchFamily="34" charset="0"/>
              </a:rPr>
              <a:t>Gerenciais</a:t>
            </a:r>
            <a:endParaRPr sz="2000" dirty="0">
              <a:latin typeface="Maiandra GD" panose="020E0502030308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pt-PT" dirty="0" smtClean="0">
                <a:latin typeface="Maiandra GD" panose="020E0502030308020204" pitchFamily="34" charset="0"/>
              </a:rPr>
              <a:t>       TECNOLOGIAS UTILIZADAS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3886"/>
            <a:ext cx="8229600" cy="4525963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Java </a:t>
            </a:r>
            <a:r>
              <a:rPr dirty="0">
                <a:latin typeface="Maiandra GD" panose="020E0502030308020204" pitchFamily="34" charset="0"/>
              </a:rPr>
              <a:t>17</a:t>
            </a: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JavaFX </a:t>
            </a:r>
            <a:r>
              <a:rPr dirty="0">
                <a:latin typeface="Maiandra GD" panose="020E0502030308020204" pitchFamily="34" charset="0"/>
              </a:rPr>
              <a:t>para interface </a:t>
            </a:r>
            <a:r>
              <a:rPr dirty="0" err="1">
                <a:latin typeface="Maiandra GD" panose="020E0502030308020204" pitchFamily="34" charset="0"/>
              </a:rPr>
              <a:t>gráfica</a:t>
            </a:r>
            <a:endParaRPr dirty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MySQL </a:t>
            </a:r>
            <a:r>
              <a:rPr dirty="0">
                <a:latin typeface="Maiandra GD" panose="020E0502030308020204" pitchFamily="34" charset="0"/>
              </a:rPr>
              <a:t>para </a:t>
            </a:r>
            <a:r>
              <a:rPr dirty="0" err="1">
                <a:latin typeface="Maiandra GD" panose="020E0502030308020204" pitchFamily="34" charset="0"/>
              </a:rPr>
              <a:t>persistência</a:t>
            </a:r>
            <a:endParaRPr dirty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JDBC </a:t>
            </a:r>
            <a:r>
              <a:rPr dirty="0">
                <a:latin typeface="Maiandra GD" panose="020E0502030308020204" pitchFamily="34" charset="0"/>
              </a:rPr>
              <a:t>para </a:t>
            </a:r>
            <a:r>
              <a:rPr dirty="0" err="1">
                <a:latin typeface="Maiandra GD" panose="020E0502030308020204" pitchFamily="34" charset="0"/>
              </a:rPr>
              <a:t>comunicação</a:t>
            </a:r>
            <a:r>
              <a:rPr dirty="0">
                <a:latin typeface="Maiandra GD" panose="020E0502030308020204" pitchFamily="34" charset="0"/>
              </a:rPr>
              <a:t> com base de dados</a:t>
            </a: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Maven para </a:t>
            </a:r>
            <a:r>
              <a:rPr dirty="0" err="1">
                <a:latin typeface="Maiandra GD" panose="020E0502030308020204" pitchFamily="34" charset="0"/>
              </a:rPr>
              <a:t>gestão</a:t>
            </a:r>
            <a:r>
              <a:rPr dirty="0">
                <a:latin typeface="Maiandra GD" panose="020E0502030308020204" pitchFamily="34" charset="0"/>
              </a:rPr>
              <a:t> do </a:t>
            </a:r>
            <a:r>
              <a:rPr dirty="0" err="1">
                <a:latin typeface="Maiandra GD" panose="020E0502030308020204" pitchFamily="34" charset="0"/>
              </a:rPr>
              <a:t>projeto</a:t>
            </a:r>
            <a:endParaRPr dirty="0">
              <a:latin typeface="Maiandra GD" panose="020E0502030308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PT" dirty="0" smtClean="0">
                <a:latin typeface="Maiandra GD" panose="020E0502030308020204" pitchFamily="34" charset="0"/>
              </a:rPr>
              <a:t>     ARQUITETURA DO SISTEMA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258" y="1066800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2000"/>
            </a:pPr>
            <a:r>
              <a:rPr sz="2800" dirty="0" err="1">
                <a:latin typeface="Maiandra GD" panose="020E0502030308020204" pitchFamily="34" charset="0"/>
              </a:rPr>
              <a:t>Arquitetura</a:t>
            </a:r>
            <a:r>
              <a:rPr sz="2800" dirty="0">
                <a:latin typeface="Maiandra GD" panose="020E0502030308020204" pitchFamily="34" charset="0"/>
              </a:rPr>
              <a:t> </a:t>
            </a:r>
            <a:r>
              <a:rPr sz="2800" dirty="0" err="1">
                <a:latin typeface="Maiandra GD" panose="020E0502030308020204" pitchFamily="34" charset="0"/>
              </a:rPr>
              <a:t>baseada</a:t>
            </a:r>
            <a:r>
              <a:rPr sz="2800" dirty="0">
                <a:latin typeface="Maiandra GD" panose="020E0502030308020204" pitchFamily="34" charset="0"/>
              </a:rPr>
              <a:t> </a:t>
            </a:r>
            <a:r>
              <a:rPr sz="2800" dirty="0" err="1">
                <a:latin typeface="Maiandra GD" panose="020E0502030308020204" pitchFamily="34" charset="0"/>
              </a:rPr>
              <a:t>em</a:t>
            </a:r>
            <a:r>
              <a:rPr sz="2800" dirty="0" smtClean="0">
                <a:latin typeface="Maiandra GD" panose="020E0502030308020204" pitchFamily="34" charset="0"/>
              </a:rPr>
              <a:t>:</a:t>
            </a:r>
            <a:endParaRPr sz="2800" dirty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>
                <a:latin typeface="Maiandra GD" panose="020E0502030308020204" pitchFamily="34" charset="0"/>
              </a:rPr>
              <a:t>VIEW → CONTROLLER → SERVICE → DAO → </a:t>
            </a:r>
            <a:r>
              <a:rPr dirty="0" smtClean="0">
                <a:latin typeface="Maiandra GD" panose="020E0502030308020204" pitchFamily="34" charset="0"/>
              </a:rPr>
              <a:t>MYSQL</a:t>
            </a:r>
            <a:endParaRPr lang="pt-PT" dirty="0" smtClean="0">
              <a:latin typeface="Maiandra GD" panose="020E0502030308020204" pitchFamily="34" charset="0"/>
            </a:endParaRPr>
          </a:p>
          <a:p>
            <a:pPr marL="0" indent="0">
              <a:lnSpc>
                <a:spcPct val="150000"/>
              </a:lnSpc>
              <a:buNone/>
              <a:defRPr sz="2000"/>
            </a:pPr>
            <a:r>
              <a:rPr sz="2800" dirty="0" err="1" smtClean="0">
                <a:latin typeface="Maiandra GD" panose="020E0502030308020204" pitchFamily="34" charset="0"/>
              </a:rPr>
              <a:t>Padrões</a:t>
            </a:r>
            <a:r>
              <a:rPr sz="2800" dirty="0" smtClean="0">
                <a:latin typeface="Maiandra GD" panose="020E0502030308020204" pitchFamily="34" charset="0"/>
              </a:rPr>
              <a:t> </a:t>
            </a:r>
            <a:r>
              <a:rPr sz="2800" dirty="0" err="1">
                <a:latin typeface="Maiandra GD" panose="020E0502030308020204" pitchFamily="34" charset="0"/>
              </a:rPr>
              <a:t>utilizados</a:t>
            </a:r>
            <a:r>
              <a:rPr sz="2800" dirty="0">
                <a:latin typeface="Maiandra GD" panose="020E0502030308020204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MVC</a:t>
            </a:r>
            <a:endParaRPr dirty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DAO</a:t>
            </a:r>
            <a:endParaRPr dirty="0">
              <a:latin typeface="Maiandra GD" panose="020E0502030308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171" y="-90033"/>
            <a:ext cx="8229600" cy="1143000"/>
          </a:xfrm>
        </p:spPr>
        <p:txBody>
          <a:bodyPr/>
          <a:lstStyle/>
          <a:p>
            <a:r>
              <a:rPr lang="pt-PT" dirty="0" smtClean="0">
                <a:latin typeface="Maiandra GD" panose="020E0502030308020204" pitchFamily="34" charset="0"/>
              </a:rPr>
              <a:t>    REQUISITOS PRINCIPAIS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52967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2000"/>
            </a:pPr>
            <a:r>
              <a:rPr sz="2800" dirty="0" err="1" smtClean="0">
                <a:latin typeface="Maiandra GD" panose="020E0502030308020204" pitchFamily="34" charset="0"/>
              </a:rPr>
              <a:t>Funcionalidades</a:t>
            </a:r>
            <a:r>
              <a:rPr sz="2800" dirty="0" smtClean="0">
                <a:latin typeface="Maiandra GD" panose="020E0502030308020204" pitchFamily="34" charset="0"/>
              </a:rPr>
              <a:t>:</a:t>
            </a:r>
            <a:endParaRPr lang="pt-PT" sz="2800" dirty="0" smtClean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Login </a:t>
            </a:r>
            <a:r>
              <a:rPr dirty="0">
                <a:latin typeface="Maiandra GD" panose="020E0502030308020204" pitchFamily="34" charset="0"/>
              </a:rPr>
              <a:t>e </a:t>
            </a:r>
            <a:r>
              <a:rPr dirty="0" err="1">
                <a:latin typeface="Maiandra GD" panose="020E0502030308020204" pitchFamily="34" charset="0"/>
              </a:rPr>
              <a:t>autenticação</a:t>
            </a:r>
            <a:endParaRPr dirty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err="1" smtClean="0">
                <a:latin typeface="Maiandra GD" panose="020E0502030308020204" pitchFamily="34" charset="0"/>
              </a:rPr>
              <a:t>Gestão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de </a:t>
            </a:r>
            <a:r>
              <a:rPr dirty="0" err="1" smtClean="0">
                <a:latin typeface="Maiandra GD" panose="020E0502030308020204" pitchFamily="34" charset="0"/>
              </a:rPr>
              <a:t>pacientes</a:t>
            </a:r>
            <a:endParaRPr lang="pt-PT" dirty="0" smtClean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err="1" smtClean="0">
                <a:latin typeface="Maiandra GD" panose="020E0502030308020204" pitchFamily="34" charset="0"/>
              </a:rPr>
              <a:t>Agendamento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de </a:t>
            </a:r>
            <a:r>
              <a:rPr dirty="0" err="1">
                <a:latin typeface="Maiandra GD" panose="020E0502030308020204" pitchFamily="34" charset="0"/>
              </a:rPr>
              <a:t>consultas</a:t>
            </a:r>
            <a:endParaRPr dirty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err="1" smtClean="0">
                <a:latin typeface="Maiandra GD" panose="020E0502030308020204" pitchFamily="34" charset="0"/>
              </a:rPr>
              <a:t>Prontuários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 err="1" smtClean="0">
                <a:latin typeface="Maiandra GD" panose="020E0502030308020204" pitchFamily="34" charset="0"/>
              </a:rPr>
              <a:t>médicos</a:t>
            </a:r>
            <a:endParaRPr lang="pt-PT" dirty="0" smtClean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err="1" smtClean="0">
                <a:latin typeface="Maiandra GD" panose="020E0502030308020204" pitchFamily="34" charset="0"/>
              </a:rPr>
              <a:t>Relatórios</a:t>
            </a:r>
            <a:endParaRPr dirty="0">
              <a:latin typeface="Maiandra GD" panose="020E0502030308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r>
              <a:rPr lang="pt-PT" dirty="0" smtClean="0"/>
              <a:t>        </a:t>
            </a:r>
            <a:r>
              <a:rPr lang="pt-PT" dirty="0" smtClean="0">
                <a:latin typeface="Maiandra GD" panose="020E0502030308020204" pitchFamily="34" charset="0"/>
              </a:rPr>
              <a:t>CONTROLE DE ACESSO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2000"/>
            </a:pPr>
            <a:r>
              <a:rPr sz="2800" dirty="0" err="1" smtClean="0">
                <a:latin typeface="Maiandra GD" panose="020E0502030308020204" pitchFamily="34" charset="0"/>
              </a:rPr>
              <a:t>Perfis</a:t>
            </a:r>
            <a:r>
              <a:rPr sz="2800" dirty="0" smtClean="0">
                <a:latin typeface="Maiandra GD" panose="020E0502030308020204" pitchFamily="34" charset="0"/>
              </a:rPr>
              <a:t> </a:t>
            </a:r>
            <a:r>
              <a:rPr sz="2800" dirty="0" err="1">
                <a:latin typeface="Maiandra GD" panose="020E0502030308020204" pitchFamily="34" charset="0"/>
              </a:rPr>
              <a:t>implementados</a:t>
            </a:r>
            <a:r>
              <a:rPr sz="2800" dirty="0" smtClean="0">
                <a:latin typeface="Maiandra GD" panose="020E0502030308020204" pitchFamily="34" charset="0"/>
              </a:rPr>
              <a:t>:</a:t>
            </a:r>
            <a:endParaRPr lang="pt-PT" sz="2800" dirty="0" smtClean="0"/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b="1" dirty="0" err="1" smtClean="0">
                <a:latin typeface="Maiandra GD" panose="020E0502030308020204" pitchFamily="34" charset="0"/>
              </a:rPr>
              <a:t>Administrador</a:t>
            </a:r>
            <a:r>
              <a:rPr b="1" dirty="0" smtClean="0">
                <a:latin typeface="Maiandra GD" panose="020E0502030308020204" pitchFamily="34" charset="0"/>
              </a:rPr>
              <a:t>:</a:t>
            </a:r>
            <a:r>
              <a:rPr lang="pt-PT" b="1" dirty="0" smtClean="0">
                <a:latin typeface="Maiandra GD" panose="020E0502030308020204" pitchFamily="34" charset="0"/>
              </a:rPr>
              <a:t> </a:t>
            </a:r>
            <a:r>
              <a:rPr dirty="0" err="1" smtClean="0">
                <a:latin typeface="Maiandra GD" panose="020E0502030308020204" pitchFamily="34" charset="0"/>
              </a:rPr>
              <a:t>Gestão</a:t>
            </a:r>
            <a:r>
              <a:rPr dirty="0" smtClean="0">
                <a:latin typeface="Maiandra GD" panose="020E0502030308020204" pitchFamily="34" charset="0"/>
              </a:rPr>
              <a:t> global</a:t>
            </a:r>
            <a:endParaRPr dirty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b="1" dirty="0" err="1" smtClean="0">
                <a:latin typeface="Maiandra GD" panose="020E0502030308020204" pitchFamily="34" charset="0"/>
              </a:rPr>
              <a:t>Médico</a:t>
            </a:r>
            <a:r>
              <a:rPr b="1" dirty="0" smtClean="0">
                <a:latin typeface="Maiandra GD" panose="020E0502030308020204" pitchFamily="34" charset="0"/>
              </a:rPr>
              <a:t>:</a:t>
            </a:r>
            <a:r>
              <a:rPr lang="pt-PT" b="1" dirty="0" smtClean="0">
                <a:latin typeface="Maiandra GD" panose="020E0502030308020204" pitchFamily="34" charset="0"/>
              </a:rPr>
              <a:t> </a:t>
            </a:r>
            <a:r>
              <a:rPr dirty="0" err="1" smtClean="0">
                <a:latin typeface="Maiandra GD" panose="020E0502030308020204" pitchFamily="34" charset="0"/>
              </a:rPr>
              <a:t>Atendimento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e </a:t>
            </a:r>
            <a:r>
              <a:rPr dirty="0" err="1" smtClean="0">
                <a:latin typeface="Maiandra GD" panose="020E0502030308020204" pitchFamily="34" charset="0"/>
              </a:rPr>
              <a:t>prontuários</a:t>
            </a:r>
            <a:endParaRPr dirty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b="1" dirty="0" err="1" smtClean="0">
                <a:latin typeface="Maiandra GD" panose="020E0502030308020204" pitchFamily="34" charset="0"/>
              </a:rPr>
              <a:t>Recepcionista</a:t>
            </a:r>
            <a:r>
              <a:rPr b="1" dirty="0" smtClean="0">
                <a:latin typeface="Maiandra GD" panose="020E0502030308020204" pitchFamily="34" charset="0"/>
              </a:rPr>
              <a:t>:</a:t>
            </a:r>
            <a:r>
              <a:rPr lang="pt-PT" b="1" dirty="0" smtClean="0">
                <a:latin typeface="Maiandra GD" panose="020E0502030308020204" pitchFamily="34" charset="0"/>
              </a:rPr>
              <a:t> </a:t>
            </a:r>
            <a:r>
              <a:rPr dirty="0" err="1" smtClean="0">
                <a:latin typeface="Maiandra GD" panose="020E0502030308020204" pitchFamily="34" charset="0"/>
              </a:rPr>
              <a:t>Pacientes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e </a:t>
            </a:r>
            <a:r>
              <a:rPr dirty="0" err="1">
                <a:latin typeface="Maiandra GD" panose="020E0502030308020204" pitchFamily="34" charset="0"/>
              </a:rPr>
              <a:t>consultas</a:t>
            </a:r>
            <a:endParaRPr dirty="0">
              <a:latin typeface="Maiandra GD" panose="020E0502030308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4266"/>
            <a:ext cx="8991600" cy="1143000"/>
          </a:xfrm>
        </p:spPr>
        <p:txBody>
          <a:bodyPr>
            <a:normAutofit fontScale="90000"/>
          </a:bodyPr>
          <a:lstStyle/>
          <a:p>
            <a:r>
              <a:rPr lang="pt-PT" dirty="0" smtClean="0">
                <a:latin typeface="Maiandra GD" panose="020E0502030308020204" pitchFamily="34" charset="0"/>
              </a:rPr>
              <a:t>     </a:t>
            </a:r>
            <a:r>
              <a:rPr lang="pt-PT" sz="4000" dirty="0" smtClean="0">
                <a:latin typeface="Maiandra GD" panose="020E0502030308020204" pitchFamily="34" charset="0"/>
              </a:rPr>
              <a:t>IMPLEMENTAÇÃO DOS MÓDULOS</a:t>
            </a:r>
            <a:endParaRPr sz="4000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7266"/>
            <a:ext cx="8229600" cy="235970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2000"/>
            </a:pPr>
            <a:r>
              <a:rPr sz="2400" dirty="0" err="1">
                <a:latin typeface="Maiandra GD" panose="020E0502030308020204" pitchFamily="34" charset="0"/>
              </a:rPr>
              <a:t>Camadas</a:t>
            </a:r>
            <a:r>
              <a:rPr sz="2400" dirty="0">
                <a:latin typeface="Maiandra GD" panose="020E0502030308020204" pitchFamily="34" charset="0"/>
              </a:rPr>
              <a:t> </a:t>
            </a:r>
            <a:r>
              <a:rPr sz="2400" dirty="0" err="1">
                <a:latin typeface="Maiandra GD" panose="020E0502030308020204" pitchFamily="34" charset="0"/>
              </a:rPr>
              <a:t>desenvolvidas</a:t>
            </a:r>
            <a:r>
              <a:rPr dirty="0">
                <a:latin typeface="Maiandra GD" panose="020E0502030308020204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View:</a:t>
            </a:r>
            <a:r>
              <a:rPr lang="pt-PT" dirty="0" smtClean="0">
                <a:latin typeface="Maiandra GD" panose="020E0502030308020204" pitchFamily="34" charset="0"/>
              </a:rPr>
              <a:t> </a:t>
            </a:r>
            <a:r>
              <a:rPr dirty="0" smtClean="0">
                <a:latin typeface="Maiandra GD" panose="020E0502030308020204" pitchFamily="34" charset="0"/>
              </a:rPr>
              <a:t>Interface </a:t>
            </a:r>
            <a:r>
              <a:rPr dirty="0">
                <a:latin typeface="Maiandra GD" panose="020E0502030308020204" pitchFamily="34" charset="0"/>
              </a:rPr>
              <a:t>JavaFX</a:t>
            </a: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Controller:</a:t>
            </a:r>
            <a:r>
              <a:rPr lang="pt-PT" dirty="0" smtClean="0">
                <a:latin typeface="Maiandra GD" panose="020E0502030308020204" pitchFamily="34" charset="0"/>
              </a:rPr>
              <a:t> </a:t>
            </a:r>
            <a:r>
              <a:rPr dirty="0" err="1" smtClean="0">
                <a:latin typeface="Maiandra GD" panose="020E0502030308020204" pitchFamily="34" charset="0"/>
              </a:rPr>
              <a:t>Gestão</a:t>
            </a:r>
            <a:r>
              <a:rPr dirty="0" smtClean="0">
                <a:latin typeface="Maiandra GD" panose="020E0502030308020204" pitchFamily="34" charset="0"/>
              </a:rPr>
              <a:t> de </a:t>
            </a:r>
            <a:r>
              <a:rPr dirty="0" err="1" smtClean="0">
                <a:latin typeface="Maiandra GD" panose="020E0502030308020204" pitchFamily="34" charset="0"/>
              </a:rPr>
              <a:t>eventos</a:t>
            </a:r>
            <a:endParaRPr dirty="0" smtClean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Service:</a:t>
            </a:r>
            <a:r>
              <a:rPr lang="pt-PT" dirty="0" smtClean="0">
                <a:latin typeface="Maiandra GD" panose="020E0502030308020204" pitchFamily="34" charset="0"/>
              </a:rPr>
              <a:t> </a:t>
            </a:r>
            <a:r>
              <a:rPr dirty="0" err="1" smtClean="0">
                <a:latin typeface="Maiandra GD" panose="020E0502030308020204" pitchFamily="34" charset="0"/>
              </a:rPr>
              <a:t>Regras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de </a:t>
            </a:r>
            <a:r>
              <a:rPr dirty="0" err="1">
                <a:latin typeface="Maiandra GD" panose="020E0502030308020204" pitchFamily="34" charset="0"/>
              </a:rPr>
              <a:t>negócio</a:t>
            </a:r>
            <a:endParaRPr dirty="0">
              <a:latin typeface="Maiandra GD" panose="020E0502030308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DAO:</a:t>
            </a:r>
            <a:r>
              <a:rPr lang="pt-PT" dirty="0" smtClean="0">
                <a:latin typeface="Maiandra GD" panose="020E0502030308020204" pitchFamily="34" charset="0"/>
              </a:rPr>
              <a:t> </a:t>
            </a:r>
            <a:r>
              <a:rPr dirty="0" err="1" smtClean="0">
                <a:latin typeface="Maiandra GD" panose="020E0502030308020204" pitchFamily="34" charset="0"/>
              </a:rPr>
              <a:t>Acesso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 err="1">
                <a:latin typeface="Maiandra GD" panose="020E0502030308020204" pitchFamily="34" charset="0"/>
              </a:rPr>
              <a:t>ao</a:t>
            </a:r>
            <a:r>
              <a:rPr dirty="0">
                <a:latin typeface="Maiandra GD" panose="020E0502030308020204" pitchFamily="34" charset="0"/>
              </a:rPr>
              <a:t> banco</a:t>
            </a:r>
          </a:p>
        </p:txBody>
      </p:sp>
      <p:sp>
        <p:nvSpPr>
          <p:cNvPr id="4" name="Oval 3"/>
          <p:cNvSpPr/>
          <p:nvPr/>
        </p:nvSpPr>
        <p:spPr>
          <a:xfrm>
            <a:off x="-2275114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485" y="-90033"/>
            <a:ext cx="8621486" cy="1143000"/>
          </a:xfrm>
        </p:spPr>
        <p:txBody>
          <a:bodyPr>
            <a:normAutofit fontScale="90000"/>
          </a:bodyPr>
          <a:lstStyle/>
          <a:p>
            <a:r>
              <a:rPr lang="pt-PT" dirty="0" smtClean="0">
                <a:latin typeface="Maiandra GD" panose="020E0502030308020204" pitchFamily="34" charset="0"/>
              </a:rPr>
              <a:t>      DEMONSTRAÇÃO DO SISTEMA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371" y="1039134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2000"/>
            </a:pPr>
            <a:r>
              <a:rPr sz="2400" dirty="0" err="1">
                <a:latin typeface="Maiandra GD" panose="020E0502030308020204" pitchFamily="34" charset="0"/>
              </a:rPr>
              <a:t>Principais</a:t>
            </a:r>
            <a:r>
              <a:rPr sz="2400" dirty="0">
                <a:latin typeface="Maiandra GD" panose="020E0502030308020204" pitchFamily="34" charset="0"/>
              </a:rPr>
              <a:t> </a:t>
            </a:r>
            <a:r>
              <a:rPr sz="2400" dirty="0" err="1">
                <a:latin typeface="Maiandra GD" panose="020E0502030308020204" pitchFamily="34" charset="0"/>
              </a:rPr>
              <a:t>telas</a:t>
            </a:r>
            <a:r>
              <a:rPr sz="2400" dirty="0">
                <a:latin typeface="Maiandra GD" panose="020E0502030308020204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/>
              <a:t> </a:t>
            </a:r>
            <a:r>
              <a:rPr dirty="0"/>
              <a:t>Login</a:t>
            </a:r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/>
              <a:t> </a:t>
            </a:r>
            <a:r>
              <a:rPr dirty="0" err="1"/>
              <a:t>Painel</a:t>
            </a:r>
            <a:r>
              <a:rPr dirty="0"/>
              <a:t> </a:t>
            </a:r>
            <a:r>
              <a:rPr dirty="0" err="1"/>
              <a:t>administrativo</a:t>
            </a:r>
            <a:endParaRPr dirty="0"/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/>
              <a:t> </a:t>
            </a:r>
            <a:r>
              <a:rPr dirty="0" err="1"/>
              <a:t>Gestão</a:t>
            </a:r>
            <a:r>
              <a:rPr dirty="0"/>
              <a:t> de </a:t>
            </a:r>
            <a:r>
              <a:rPr dirty="0" err="1"/>
              <a:t>pacientes</a:t>
            </a:r>
            <a:endParaRPr dirty="0"/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/>
              <a:t> </a:t>
            </a:r>
            <a:r>
              <a:rPr dirty="0" err="1"/>
              <a:t>Consultas</a:t>
            </a:r>
            <a:endParaRPr dirty="0"/>
          </a:p>
          <a:p>
            <a:pPr lvl="1">
              <a:buFont typeface="Wingdings" panose="05000000000000000000" pitchFamily="2" charset="2"/>
              <a:buChar char="Ø"/>
              <a:defRPr sz="2000"/>
            </a:pPr>
            <a:r>
              <a:rPr dirty="0" smtClean="0"/>
              <a:t> </a:t>
            </a:r>
            <a:r>
              <a:rPr dirty="0" err="1"/>
              <a:t>Prontuários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29" y="-8391"/>
            <a:ext cx="8229600" cy="1143000"/>
          </a:xfrm>
        </p:spPr>
        <p:txBody>
          <a:bodyPr/>
          <a:lstStyle/>
          <a:p>
            <a:r>
              <a:rPr lang="pt-PT" dirty="0" smtClean="0">
                <a:latin typeface="Maiandra GD" panose="020E0502030308020204" pitchFamily="34" charset="0"/>
              </a:rPr>
              <a:t>   SEGURANÇA E VALIDAÇÃO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143" y="1189038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000"/>
            </a:pPr>
            <a:r>
              <a:rPr dirty="0" err="1" smtClean="0">
                <a:latin typeface="Maiandra GD" panose="020E0502030308020204" pitchFamily="34" charset="0"/>
              </a:rPr>
              <a:t>Controle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de </a:t>
            </a:r>
            <a:r>
              <a:rPr dirty="0" err="1">
                <a:latin typeface="Maiandra GD" panose="020E0502030308020204" pitchFamily="34" charset="0"/>
              </a:rPr>
              <a:t>permissões</a:t>
            </a:r>
            <a:endParaRPr dirty="0">
              <a:latin typeface="Maiandra GD" panose="020E0502030308020204" pitchFamily="34" charset="0"/>
            </a:endParaRPr>
          </a:p>
          <a:p>
            <a:pPr>
              <a:buFont typeface="Wingdings" panose="05000000000000000000" pitchFamily="2" charset="2"/>
              <a:buChar char="Ø"/>
              <a:defRPr sz="2000"/>
            </a:pPr>
            <a:r>
              <a:rPr dirty="0" err="1" smtClean="0">
                <a:latin typeface="Maiandra GD" panose="020E0502030308020204" pitchFamily="34" charset="0"/>
              </a:rPr>
              <a:t>Validação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de dados</a:t>
            </a:r>
          </a:p>
          <a:p>
            <a:pPr>
              <a:buFont typeface="Wingdings" panose="05000000000000000000" pitchFamily="2" charset="2"/>
              <a:buChar char="Ø"/>
              <a:defRPr sz="2000"/>
            </a:pPr>
            <a:r>
              <a:rPr dirty="0" err="1" smtClean="0">
                <a:latin typeface="Maiandra GD" panose="020E0502030308020204" pitchFamily="34" charset="0"/>
              </a:rPr>
              <a:t>Sessão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do </a:t>
            </a:r>
            <a:r>
              <a:rPr dirty="0" err="1" smtClean="0">
                <a:latin typeface="Maiandra GD" panose="020E0502030308020204" pitchFamily="34" charset="0"/>
              </a:rPr>
              <a:t>utilizador</a:t>
            </a:r>
            <a:endParaRPr lang="pt-PT" dirty="0" smtClean="0">
              <a:latin typeface="Maiandra GD" panose="020E0502030308020204" pitchFamily="34" charset="0"/>
            </a:endParaRPr>
          </a:p>
          <a:p>
            <a:pPr>
              <a:buFont typeface="Wingdings" panose="05000000000000000000" pitchFamily="2" charset="2"/>
              <a:buChar char="Ø"/>
              <a:defRPr sz="2000"/>
            </a:pPr>
            <a:r>
              <a:rPr lang="pt-PT" dirty="0" smtClean="0">
                <a:latin typeface="Maiandra GD" panose="020E0502030308020204" pitchFamily="34" charset="0"/>
              </a:rPr>
              <a:t>Criptografia de Senha</a:t>
            </a:r>
            <a:endParaRPr dirty="0">
              <a:latin typeface="Maiandra GD" panose="020E0502030308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0033"/>
            <a:ext cx="8229600" cy="1143000"/>
          </a:xfrm>
        </p:spPr>
        <p:txBody>
          <a:bodyPr/>
          <a:lstStyle/>
          <a:p>
            <a:r>
              <a:rPr lang="pt-PT" dirty="0" smtClean="0">
                <a:latin typeface="Maiandra GD" panose="020E0502030308020204" pitchFamily="34" charset="0"/>
              </a:rPr>
              <a:t> RESULTADOS OBTIDOS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343" y="1219200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000"/>
            </a:pPr>
            <a:r>
              <a:rPr dirty="0" smtClean="0"/>
              <a:t> </a:t>
            </a:r>
            <a:r>
              <a:rPr dirty="0">
                <a:latin typeface="Maiandra GD" panose="020E0502030308020204" pitchFamily="34" charset="0"/>
              </a:rPr>
              <a:t>Sistema </a:t>
            </a:r>
            <a:r>
              <a:rPr dirty="0" err="1">
                <a:latin typeface="Maiandra GD" panose="020E0502030308020204" pitchFamily="34" charset="0"/>
              </a:rPr>
              <a:t>funcional</a:t>
            </a:r>
            <a:r>
              <a:rPr dirty="0">
                <a:latin typeface="Maiandra GD" panose="020E0502030308020204" pitchFamily="34" charset="0"/>
              </a:rPr>
              <a:t> </a:t>
            </a:r>
            <a:r>
              <a:rPr dirty="0" err="1" smtClean="0">
                <a:latin typeface="Maiandra GD" panose="020E0502030308020204" pitchFamily="34" charset="0"/>
              </a:rPr>
              <a:t>desenvolvido</a:t>
            </a:r>
            <a:endParaRPr lang="pt-PT" dirty="0" smtClean="0">
              <a:latin typeface="Maiandra GD" panose="020E0502030308020204" pitchFamily="34" charset="0"/>
            </a:endParaRPr>
          </a:p>
          <a:p>
            <a:pPr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 err="1">
                <a:latin typeface="Maiandra GD" panose="020E0502030308020204" pitchFamily="34" charset="0"/>
              </a:rPr>
              <a:t>Processos</a:t>
            </a:r>
            <a:r>
              <a:rPr dirty="0">
                <a:latin typeface="Maiandra GD" panose="020E0502030308020204" pitchFamily="34" charset="0"/>
              </a:rPr>
              <a:t> </a:t>
            </a:r>
            <a:r>
              <a:rPr dirty="0" err="1">
                <a:latin typeface="Maiandra GD" panose="020E0502030308020204" pitchFamily="34" charset="0"/>
              </a:rPr>
              <a:t>clínicos</a:t>
            </a:r>
            <a:r>
              <a:rPr dirty="0">
                <a:latin typeface="Maiandra GD" panose="020E0502030308020204" pitchFamily="34" charset="0"/>
              </a:rPr>
              <a:t> </a:t>
            </a:r>
            <a:r>
              <a:rPr dirty="0" err="1">
                <a:latin typeface="Maiandra GD" panose="020E0502030308020204" pitchFamily="34" charset="0"/>
              </a:rPr>
              <a:t>automatizados</a:t>
            </a:r>
            <a:endParaRPr dirty="0">
              <a:latin typeface="Maiandra GD" panose="020E0502030308020204" pitchFamily="34" charset="0"/>
            </a:endParaRPr>
          </a:p>
          <a:p>
            <a:pPr>
              <a:buFont typeface="Wingdings" panose="05000000000000000000" pitchFamily="2" charset="2"/>
              <a:buChar char="Ø"/>
              <a:defRPr sz="2000"/>
            </a:pPr>
            <a:r>
              <a:rPr lang="pt-PT" dirty="0">
                <a:latin typeface="Maiandra GD" panose="020E0502030308020204" pitchFamily="34" charset="0"/>
              </a:rPr>
              <a:t> </a:t>
            </a:r>
            <a:r>
              <a:rPr dirty="0" err="1" smtClean="0">
                <a:latin typeface="Maiandra GD" panose="020E0502030308020204" pitchFamily="34" charset="0"/>
              </a:rPr>
              <a:t>Organização</a:t>
            </a: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das </a:t>
            </a:r>
            <a:r>
              <a:rPr dirty="0" err="1">
                <a:latin typeface="Maiandra GD" panose="020E0502030308020204" pitchFamily="34" charset="0"/>
              </a:rPr>
              <a:t>informações</a:t>
            </a:r>
            <a:endParaRPr dirty="0">
              <a:latin typeface="Maiandra GD" panose="020E0502030308020204" pitchFamily="34" charset="0"/>
            </a:endParaRPr>
          </a:p>
          <a:p>
            <a:pPr>
              <a:buFont typeface="Wingdings" panose="05000000000000000000" pitchFamily="2" charset="2"/>
              <a:buChar char="Ø"/>
              <a:defRPr sz="2000"/>
            </a:pPr>
            <a:r>
              <a:rPr dirty="0" smtClean="0">
                <a:latin typeface="Maiandra GD" panose="020E0502030308020204" pitchFamily="34" charset="0"/>
              </a:rPr>
              <a:t> </a:t>
            </a:r>
            <a:r>
              <a:rPr dirty="0">
                <a:latin typeface="Maiandra GD" panose="020E0502030308020204" pitchFamily="34" charset="0"/>
              </a:rPr>
              <a:t>Base </a:t>
            </a:r>
            <a:r>
              <a:rPr dirty="0" err="1">
                <a:latin typeface="Maiandra GD" panose="020E0502030308020204" pitchFamily="34" charset="0"/>
              </a:rPr>
              <a:t>preparada</a:t>
            </a:r>
            <a:r>
              <a:rPr dirty="0">
                <a:latin typeface="Maiandra GD" panose="020E0502030308020204" pitchFamily="34" charset="0"/>
              </a:rPr>
              <a:t> para </a:t>
            </a:r>
            <a:r>
              <a:rPr dirty="0" err="1">
                <a:latin typeface="Maiandra GD" panose="020E0502030308020204" pitchFamily="34" charset="0"/>
              </a:rPr>
              <a:t>futuras</a:t>
            </a:r>
            <a:r>
              <a:rPr dirty="0">
                <a:latin typeface="Maiandra GD" panose="020E0502030308020204" pitchFamily="34" charset="0"/>
              </a:rPr>
              <a:t> </a:t>
            </a:r>
            <a:r>
              <a:rPr dirty="0" err="1">
                <a:latin typeface="Maiandra GD" panose="020E0502030308020204" pitchFamily="34" charset="0"/>
              </a:rPr>
              <a:t>melhorias</a:t>
            </a:r>
            <a:endParaRPr dirty="0">
              <a:latin typeface="Maiandra GD" panose="020E0502030308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PT" dirty="0" smtClean="0">
                <a:latin typeface="Maiandra GD" panose="020E0502030308020204" pitchFamily="34" charset="0"/>
              </a:rPr>
              <a:t>       MODELAGEM DO SISTEMA</a:t>
            </a:r>
            <a:endParaRPr lang="pt-PT" dirty="0">
              <a:latin typeface="Maiandra GD" panose="020E0502030308020204" pitchFamily="34" charset="0"/>
            </a:endParaRPr>
          </a:p>
        </p:txBody>
      </p:sp>
      <p:pic>
        <p:nvPicPr>
          <p:cNvPr id="5" name="Marcador de Posição de Conteúdo 4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8" t="20861" r="10231" b="18979"/>
          <a:stretch/>
        </p:blipFill>
        <p:spPr bwMode="auto">
          <a:xfrm>
            <a:off x="1012370" y="1306285"/>
            <a:ext cx="7402287" cy="418011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Oval 5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2869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Marcador de Posição de Conteúdo 4"/>
          <p:cNvSpPr>
            <a:spLocks noGrp="1"/>
          </p:cNvSpPr>
          <p:nvPr>
            <p:ph idx="1"/>
          </p:nvPr>
        </p:nvSpPr>
        <p:spPr>
          <a:xfrm>
            <a:off x="457200" y="2895601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lang="pt-PT" b="1" dirty="0" smtClean="0">
                <a:latin typeface="Maiandra GD" panose="020E0502030308020204" pitchFamily="34" charset="0"/>
              </a:rPr>
              <a:t>APRESENTAÇÃO DO PROJECTO</a:t>
            </a:r>
            <a:endParaRPr lang="pt-PT" b="1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179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924"/>
            <a:ext cx="8229600" cy="1143000"/>
          </a:xfrm>
        </p:spPr>
        <p:txBody>
          <a:bodyPr/>
          <a:lstStyle/>
          <a:p>
            <a:r>
              <a:rPr lang="pt-PT" dirty="0" smtClean="0">
                <a:latin typeface="Maiandra GD" panose="020E0502030308020204" pitchFamily="34" charset="0"/>
              </a:rPr>
              <a:t>CONCLUSÃO</a:t>
            </a:r>
            <a:endParaRPr lang="pt-PT" dirty="0">
              <a:latin typeface="Maiandra GD" panose="020E0502030308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9924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  <a:defRPr sz="2000"/>
            </a:pPr>
            <a:r>
              <a:rPr lang="pt-PT" dirty="0"/>
              <a:t>A implementação do Sistema de Gestão de Clínica Médica (Clínica UNIKIVI) alcançou os objetivos propostos, cumprindo os requisitos funcionais e técnicos do projeto. A utilização dos padrões MVC e DAO permitiu criar um sistema organizado, modular e de fácil manutenção, garantindo maior segurança e eficiência no controlo das informações.</a:t>
            </a: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-1992086" y="-334961"/>
            <a:ext cx="3614057" cy="16328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352</Words>
  <Application>Microsoft Office PowerPoint</Application>
  <PresentationFormat>Apresentação no Ecrã (4:3)</PresentationFormat>
  <Paragraphs>69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9" baseType="lpstr">
      <vt:lpstr>Arial</vt:lpstr>
      <vt:lpstr>Calibri</vt:lpstr>
      <vt:lpstr>Maiandra GD</vt:lpstr>
      <vt:lpstr>Wingdings</vt:lpstr>
      <vt:lpstr>Office Theme</vt:lpstr>
      <vt:lpstr>Apresentação do PowerPoint</vt:lpstr>
      <vt:lpstr>INTRODUÇÃO</vt:lpstr>
      <vt:lpstr>       OBJETIVOS DO PROJETO</vt:lpstr>
      <vt:lpstr>       TECNOLOGIAS UTILIZADAS</vt:lpstr>
      <vt:lpstr>     ARQUITETURA DO SISTEMA</vt:lpstr>
      <vt:lpstr>    REQUISITOS PRINCIPAIS</vt:lpstr>
      <vt:lpstr>        CONTROLE DE ACESSO</vt:lpstr>
      <vt:lpstr>     IMPLEMENTAÇÃO DOS MÓDULOS</vt:lpstr>
      <vt:lpstr>      DEMONSTRAÇÃO DO SISTEMA</vt:lpstr>
      <vt:lpstr>   SEGURANÇA E VALIDAÇÃO</vt:lpstr>
      <vt:lpstr> RESULTADOS OBTIDOS</vt:lpstr>
      <vt:lpstr>       MODELAGEM DO SISTEMA</vt:lpstr>
      <vt:lpstr>Apresentação do PowerPoint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AUGUSTO MBOTA</dc:creator>
  <cp:keywords/>
  <dc:description>generated using python-pptx</dc:description>
  <cp:lastModifiedBy>GUSMA AG</cp:lastModifiedBy>
  <cp:revision>14</cp:revision>
  <dcterms:created xsi:type="dcterms:W3CDTF">2013-01-27T09:14:16Z</dcterms:created>
  <dcterms:modified xsi:type="dcterms:W3CDTF">2026-06-24T10:13:57Z</dcterms:modified>
  <cp:category/>
</cp:coreProperties>
</file>